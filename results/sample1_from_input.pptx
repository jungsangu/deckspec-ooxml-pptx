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notesMaster" Target="notesMasters/notesMaster1.xml"/> <Relationship Id="rId9" Type="http://schemas.openxmlformats.org/officeDocument/2006/relationships/presProps" Target="presProps.xml"/> <Relationship Id="rId10" Type="http://schemas.openxmlformats.org/officeDocument/2006/relationships/viewProps" Target="viewProps.xml"/> <Relationship Id="rId11" Type="http://schemas.openxmlformats.org/officeDocument/2006/relationships/theme" Target="theme/theme1.xml"/> <Relationship Id="rId12" Type="http://schemas.openxmlformats.org/officeDocument/2006/relationships/tableStyles" Target="tableStyles.xml"/>
</Relationships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orial Top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10A37F">
              <a:alpha val="22000"/>
            </a:srgbClr>
          </a:solidFill>
          <a:ln>
            <a:noFill/>
          </a:ln>
        </p:spPr>
      </p:sp>
      <p:sp>
        <p:nvSpPr>
          <p:cNvPr id="3" name="Editorial Side"/>
          <p:cNvSpPr/>
          <p:nvPr/>
        </p:nvSpPr>
        <p:spPr>
          <a:xfrm>
            <a:off x="11841480" y="0"/>
            <a:ext cx="201168" cy="6858000"/>
          </a:xfrm>
          <a:prstGeom prst="rect">
            <a:avLst/>
          </a:prstGeom>
          <a:solidFill>
            <a:srgbClr val="0F8C6A">
              <a:alpha val="22000"/>
            </a:srgbClr>
          </a:solidFill>
          <a:ln>
            <a:noFill/>
          </a:ln>
        </p:spPr>
      </p:sp>
      <p:sp>
        <p:nvSpPr>
          <p:cNvPr id="4" name="Editorial Wash"/>
          <p:cNvSpPr/>
          <p:nvPr/>
        </p:nvSpPr>
        <p:spPr>
          <a:xfrm>
            <a:off x="594360" y="5230368"/>
            <a:ext cx="3840480" cy="1143000"/>
          </a:xfrm>
          <a:prstGeom prst="roundRect">
            <a:avLst/>
          </a:prstGeom>
          <a:solidFill>
            <a:srgbClr val="DFF6EF">
              <a:alpha val="70000"/>
            </a:srgbClr>
          </a:solidFill>
          <a:ln>
            <a:noFill/>
          </a:ln>
        </p:spPr>
      </p:sp>
      <p:sp>
        <p:nvSpPr>
          <p:cNvPr id="5" name="Cover Navy Center Slab"/>
          <p:cNvSpPr/>
          <p:nvPr/>
        </p:nvSpPr>
        <p:spPr>
          <a:xfrm>
            <a:off x="1920240" y="2148840"/>
            <a:ext cx="8366760" cy="1261872"/>
          </a:xfrm>
          <a:prstGeom prst="roundRect">
            <a:avLst/>
          </a:prstGeom>
          <a:solidFill>
            <a:srgbClr val="0F8C6A"/>
          </a:solidFill>
          <a:ln w="12700">
            <a:solidFill>
              <a:srgbClr val="0F8C6A"/>
            </a:solidFill>
          </a:ln>
        </p:spPr>
      </p:sp>
      <p:sp>
        <p:nvSpPr>
          <p:cNvPr id="6" name="Cover Blue Label Tab"/>
          <p:cNvSpPr/>
          <p:nvPr/>
        </p:nvSpPr>
        <p:spPr>
          <a:xfrm>
            <a:off x="2743200" y="1874519"/>
            <a:ext cx="1691640" cy="347472"/>
          </a:xfrm>
          <a:prstGeom prst="round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7" name="Cover White Title Plate"/>
          <p:cNvSpPr/>
          <p:nvPr/>
        </p:nvSpPr>
        <p:spPr>
          <a:xfrm>
            <a:off x="2331720" y="2414016"/>
            <a:ext cx="7543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8" name="Cover Title"/>
          <p:cNvSpPr txBox="1"/>
          <p:nvPr/>
        </p:nvSpPr>
        <p:spPr>
          <a:xfrm>
            <a:off x="2578608" y="2487168"/>
            <a:ext cx="70591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sz="2200" b="1">
                <a:solidFill>
                  <a:srgbClr val="0F8C6A"/>
                </a:solidFill>
                <a:latin typeface="Arial"/>
                <a:ea typeface="Apple SD Gothic Neo"/>
                <a:cs typeface="Arial"/>
              </a:rPr>
              <a:t>게임산업, 로봇 AI의 훈련장이 되다</a:t>
            </a:r>
            <a:endParaRPr lang="ko-KR" sz="2200"/>
          </a:p>
        </p:txBody>
      </p:sp>
      <p:sp>
        <p:nvSpPr>
          <p:cNvPr id="9" name="Cover Orange Dot"/>
          <p:cNvSpPr/>
          <p:nvPr/>
        </p:nvSpPr>
        <p:spPr>
          <a:xfrm>
            <a:off x="9189720" y="2633472"/>
            <a:ext cx="201168" cy="201168"/>
          </a:xfrm>
          <a:prstGeom prst="ellipse">
            <a:avLst/>
          </a:prstGeom>
          <a:solidFill>
            <a:srgbClr val="0F8C6A"/>
          </a:solidFill>
          <a:ln w="12700">
            <a:solidFill>
              <a:srgbClr val="FFFFFF"/>
            </a:solidFill>
          </a:ln>
        </p:spPr>
      </p:sp>
      <p:sp>
        <p:nvSpPr>
          <p:cNvPr id="10" name="Cover Subtitle"/>
          <p:cNvSpPr txBox="1"/>
          <p:nvPr/>
        </p:nvSpPr>
        <p:spPr>
          <a:xfrm>
            <a:off x="2743200" y="3566160"/>
            <a:ext cx="6720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sz="12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가상세계 제작 역량이 제조·방산·로보틱스 현장으로 이동</a:t>
            </a:r>
            <a:endParaRPr lang="ko-KR" sz="1200"/>
          </a:p>
        </p:txBody>
      </p:sp>
      <p:sp>
        <p:nvSpPr>
          <p:cNvPr id="11" name="Cover Kicker"/>
          <p:cNvSpPr txBox="1"/>
          <p:nvPr/>
        </p:nvSpPr>
        <p:spPr>
          <a:xfrm>
            <a:off x="2907792" y="1911095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Arial"/>
                <a:ea typeface="Apple SD Gothic Neo"/>
                <a:cs typeface="Arial"/>
              </a:rPr>
              <a:t>Physical AI Brief</a:t>
            </a:r>
            <a:endParaRPr lang="ko-KR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stem Blueprint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6EF">
              <a:alpha val="90000"/>
            </a:srgbClr>
          </a:solidFill>
          <a:ln>
            <a:noFill/>
          </a:ln>
        </p:spPr>
      </p:sp>
      <p:sp>
        <p:nvSpPr>
          <p:cNvPr id="3" name="System Blueprint Guide"/>
          <p:cNvSpPr/>
          <p:nvPr/>
        </p:nvSpPr>
        <p:spPr>
          <a:xfrm>
            <a:off x="146304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4" name="System Blueprint Guide"/>
          <p:cNvSpPr/>
          <p:nvPr/>
        </p:nvSpPr>
        <p:spPr>
          <a:xfrm>
            <a:off x="338328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5" name="System Blueprint Guide"/>
          <p:cNvSpPr/>
          <p:nvPr/>
        </p:nvSpPr>
        <p:spPr>
          <a:xfrm>
            <a:off x="530352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6" name="System Blueprint Guide"/>
          <p:cNvSpPr/>
          <p:nvPr/>
        </p:nvSpPr>
        <p:spPr>
          <a:xfrm>
            <a:off x="722376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7" name="System Blueprint Guide"/>
          <p:cNvSpPr/>
          <p:nvPr/>
        </p:nvSpPr>
        <p:spPr>
          <a:xfrm>
            <a:off x="914400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8" name="System Blueprint Guide"/>
          <p:cNvSpPr/>
          <p:nvPr/>
        </p:nvSpPr>
        <p:spPr>
          <a:xfrm>
            <a:off x="1106424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9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35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핵심 구조</a:t>
            </a:r>
            <a:endParaRPr lang="ko-KR" sz="1350"/>
          </a:p>
        </p:txBody>
      </p:sp>
      <p:sp>
        <p:nvSpPr>
          <p:cNvPr id="10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28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게임엔진이 피지컬 AI 인프라로 확장</a:t>
            </a:r>
            <a:endParaRPr lang="ko-KR" sz="2800"/>
          </a:p>
        </p:txBody>
      </p:sp>
      <p:sp>
        <p:nvSpPr>
          <p:cNvPr id="11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DFF6EF"/>
            </a:solidFill>
          </a:ln>
        </p:spPr>
      </p:sp>
      <p:sp>
        <p:nvSpPr>
          <p:cNvPr id="12" name="Architecture Edge"/>
          <p:cNvSpPr/>
          <p:nvPr/>
        </p:nvSpPr>
        <p:spPr>
          <a:xfrm>
            <a:off x="2467356" y="2644902"/>
            <a:ext cx="3636264" cy="1"/>
          </a:xfrm>
          <a:prstGeom prst="line">
            <a:avLst/>
          </a:prstGeom>
          <a:noFill/>
          <a:ln w="12700">
            <a:solidFill>
              <a:srgbClr val="DFF6EF"/>
            </a:solidFill>
            <a:prstDash val="solid"/>
          </a:ln>
        </p:spPr>
      </p:sp>
      <p:sp>
        <p:nvSpPr>
          <p:cNvPr id="13" name="Architecture Edge"/>
          <p:cNvSpPr/>
          <p:nvPr/>
        </p:nvSpPr>
        <p:spPr>
          <a:xfrm>
            <a:off x="6103620" y="2644902"/>
            <a:ext cx="3636264" cy="1"/>
          </a:xfrm>
          <a:prstGeom prst="line">
            <a:avLst/>
          </a:prstGeom>
          <a:noFill/>
          <a:ln w="12700">
            <a:solidFill>
              <a:srgbClr val="DFF6EF"/>
            </a:solidFill>
            <a:prstDash val="solid"/>
          </a:ln>
        </p:spPr>
      </p:sp>
      <p:sp>
        <p:nvSpPr>
          <p:cNvPr id="14" name="Architecture Edge"/>
          <p:cNvSpPr/>
          <p:nvPr/>
        </p:nvSpPr>
        <p:spPr>
          <a:xfrm flipH="1">
            <a:off x="2467356" y="2644902"/>
            <a:ext cx="7272528" cy="2071116"/>
          </a:xfrm>
          <a:prstGeom prst="line">
            <a:avLst/>
          </a:prstGeom>
          <a:noFill/>
          <a:ln w="12700">
            <a:solidFill>
              <a:srgbClr val="DFF6EF"/>
            </a:solidFill>
            <a:prstDash val="solid"/>
          </a:ln>
        </p:spPr>
      </p:sp>
      <p:sp>
        <p:nvSpPr>
          <p:cNvPr id="15" name="Architecture Edge"/>
          <p:cNvSpPr/>
          <p:nvPr/>
        </p:nvSpPr>
        <p:spPr>
          <a:xfrm>
            <a:off x="2467356" y="4716018"/>
            <a:ext cx="3636264" cy="1"/>
          </a:xfrm>
          <a:prstGeom prst="line">
            <a:avLst/>
          </a:prstGeom>
          <a:noFill/>
          <a:ln w="12700">
            <a:solidFill>
              <a:srgbClr val="DFF6EF"/>
            </a:solidFill>
            <a:prstDash val="solid"/>
          </a:ln>
        </p:spPr>
      </p:sp>
      <p:sp>
        <p:nvSpPr>
          <p:cNvPr id="16" name="Architecture Edge"/>
          <p:cNvSpPr/>
          <p:nvPr/>
        </p:nvSpPr>
        <p:spPr>
          <a:xfrm>
            <a:off x="6103620" y="4716018"/>
            <a:ext cx="3636264" cy="1"/>
          </a:xfrm>
          <a:prstGeom prst="line">
            <a:avLst/>
          </a:prstGeom>
          <a:noFill/>
          <a:ln w="12700">
            <a:solidFill>
              <a:srgbClr val="DFF6EF"/>
            </a:solidFill>
            <a:prstDash val="solid"/>
          </a:ln>
        </p:spPr>
      </p:sp>
      <p:sp>
        <p:nvSpPr>
          <p:cNvPr id="17" name="Architecture Node"/>
          <p:cNvSpPr txBox="1"/>
          <p:nvPr/>
        </p:nvSpPr>
        <p:spPr>
          <a:xfrm>
            <a:off x="822960" y="2132838"/>
            <a:ext cx="3288792" cy="1024128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10A37F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게임산업</a:t>
            </a:r>
            <a:endParaRPr lang="ko-KR" sz="1500"/>
          </a:p>
        </p:txBody>
      </p:sp>
      <p:sp>
        <p:nvSpPr>
          <p:cNvPr id="18" name="Architecture Node"/>
          <p:cNvSpPr txBox="1"/>
          <p:nvPr/>
        </p:nvSpPr>
        <p:spPr>
          <a:xfrm>
            <a:off x="4459224" y="2132838"/>
            <a:ext cx="3288792" cy="1024128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0F8C6A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게임엔진</a:t>
            </a:r>
            <a:endParaRPr lang="ko-KR" sz="1500"/>
          </a:p>
        </p:txBody>
      </p:sp>
      <p:sp>
        <p:nvSpPr>
          <p:cNvPr id="19" name="Architecture Node"/>
          <p:cNvSpPr txBox="1"/>
          <p:nvPr/>
        </p:nvSpPr>
        <p:spPr>
          <a:xfrm>
            <a:off x="8095488" y="2132838"/>
            <a:ext cx="3288792" cy="1024128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0F8C6A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가상 시뮬레이션</a:t>
            </a:r>
            <a:endParaRPr lang="ko-KR" sz="1500"/>
          </a:p>
        </p:txBody>
      </p:sp>
      <p:sp>
        <p:nvSpPr>
          <p:cNvPr id="20" name="Architecture Node"/>
          <p:cNvSpPr txBox="1"/>
          <p:nvPr/>
        </p:nvSpPr>
        <p:spPr>
          <a:xfrm>
            <a:off x="822960" y="4203954"/>
            <a:ext cx="3288792" cy="1024128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10A37F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피지컬 AI</a:t>
            </a:r>
            <a:endParaRPr lang="ko-KR" sz="1500"/>
          </a:p>
        </p:txBody>
      </p:sp>
      <p:sp>
        <p:nvSpPr>
          <p:cNvPr id="21" name="Architecture Node"/>
          <p:cNvSpPr txBox="1"/>
          <p:nvPr/>
        </p:nvSpPr>
        <p:spPr>
          <a:xfrm>
            <a:off x="4459224" y="4203954"/>
            <a:ext cx="3288792" cy="1024128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10A37F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로보틱스</a:t>
            </a:r>
            <a:endParaRPr lang="ko-KR" sz="1500"/>
          </a:p>
        </p:txBody>
      </p:sp>
      <p:sp>
        <p:nvSpPr>
          <p:cNvPr id="22" name="Architecture Node"/>
          <p:cNvSpPr txBox="1"/>
          <p:nvPr/>
        </p:nvSpPr>
        <p:spPr>
          <a:xfrm>
            <a:off x="8095488" y="4203954"/>
            <a:ext cx="3288792" cy="1024128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0F8C6A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제조·방산 현장</a:t>
            </a:r>
            <a:endParaRPr lang="ko-KR" sz="1500"/>
          </a:p>
        </p:txBody>
      </p:sp>
      <p:sp>
        <p:nvSpPr>
          <p:cNvPr id="23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2</a:t>
            </a:r>
            <a:endParaRPr lang="ko-KR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stem Blueprint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6EF">
              <a:alpha val="90000"/>
            </a:srgbClr>
          </a:solidFill>
          <a:ln>
            <a:noFill/>
          </a:ln>
        </p:spPr>
      </p:sp>
      <p:sp>
        <p:nvSpPr>
          <p:cNvPr id="3" name="System Blueprint Guide"/>
          <p:cNvSpPr/>
          <p:nvPr/>
        </p:nvSpPr>
        <p:spPr>
          <a:xfrm>
            <a:off x="146304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4" name="System Blueprint Guide"/>
          <p:cNvSpPr/>
          <p:nvPr/>
        </p:nvSpPr>
        <p:spPr>
          <a:xfrm>
            <a:off x="338328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5" name="System Blueprint Guide"/>
          <p:cNvSpPr/>
          <p:nvPr/>
        </p:nvSpPr>
        <p:spPr>
          <a:xfrm>
            <a:off x="530352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6" name="System Blueprint Guide"/>
          <p:cNvSpPr/>
          <p:nvPr/>
        </p:nvSpPr>
        <p:spPr>
          <a:xfrm>
            <a:off x="722376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7" name="System Blueprint Guide"/>
          <p:cNvSpPr/>
          <p:nvPr/>
        </p:nvSpPr>
        <p:spPr>
          <a:xfrm>
            <a:off x="914400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8" name="System Blueprint Guide"/>
          <p:cNvSpPr/>
          <p:nvPr/>
        </p:nvSpPr>
        <p:spPr>
          <a:xfrm>
            <a:off x="1106424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9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35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훈련 메커니즘</a:t>
            </a:r>
            <a:endParaRPr lang="ko-KR" sz="1350"/>
          </a:p>
        </p:txBody>
      </p:sp>
      <p:sp>
        <p:nvSpPr>
          <p:cNvPr id="10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28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가상세계에서 현실 AI를 훈련</a:t>
            </a:r>
            <a:endParaRPr lang="ko-KR" sz="2800"/>
          </a:p>
        </p:txBody>
      </p:sp>
      <p:sp>
        <p:nvSpPr>
          <p:cNvPr id="11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DFF6EF"/>
            </a:solidFill>
          </a:ln>
        </p:spPr>
      </p:sp>
      <p:sp>
        <p:nvSpPr>
          <p:cNvPr id="12" name="Process Step"/>
          <p:cNvSpPr txBox="1"/>
          <p:nvPr/>
        </p:nvSpPr>
        <p:spPr>
          <a:xfrm>
            <a:off x="822960" y="1959102"/>
            <a:ext cx="3288792" cy="132588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01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현실 환경 모델링</a:t>
            </a:r>
            <a:endParaRPr lang="ko-KR" sz="1500"/>
          </a:p>
          <a:p>
            <a:pPr marL="0" indent="0">
              <a:buNone/>
            </a:pPr>
            <a:r>
              <a:rPr lang="ko-KR" sz="12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도로, 공장, 물체, 사람의 상호작용을 가상공간에 재현</a:t>
            </a:r>
            <a:endParaRPr lang="ko-KR" sz="1200"/>
          </a:p>
        </p:txBody>
      </p:sp>
      <p:sp>
        <p:nvSpPr>
          <p:cNvPr id="13" name="Flow Arrow"/>
          <p:cNvSpPr/>
          <p:nvPr/>
        </p:nvSpPr>
        <p:spPr>
          <a:xfrm>
            <a:off x="4212336" y="2512314"/>
            <a:ext cx="219456" cy="219456"/>
          </a:xfrm>
          <a:prstGeom prst="triangle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14" name="Process Step"/>
          <p:cNvSpPr txBox="1"/>
          <p:nvPr/>
        </p:nvSpPr>
        <p:spPr>
          <a:xfrm>
            <a:off x="4459224" y="1959102"/>
            <a:ext cx="3288792" cy="132588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0F8C6A"/>
                </a:solidFill>
                <a:latin typeface="Arial"/>
                <a:ea typeface="Apple SD Gothic Neo"/>
                <a:cs typeface="Arial"/>
              </a:rPr>
              <a:t>02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물리 시뮬레이션</a:t>
            </a:r>
            <a:endParaRPr lang="ko-KR" sz="1500"/>
          </a:p>
          <a:p>
            <a:pPr marL="0" indent="0">
              <a:buNone/>
            </a:pPr>
            <a:r>
              <a:rPr lang="ko-KR" sz="12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언리얼 엔진·유니티 기반으로 상황 변수를 반복 생성</a:t>
            </a:r>
            <a:endParaRPr lang="ko-KR" sz="1200"/>
          </a:p>
        </p:txBody>
      </p:sp>
      <p:sp>
        <p:nvSpPr>
          <p:cNvPr id="15" name="Flow Arrow"/>
          <p:cNvSpPr/>
          <p:nvPr/>
        </p:nvSpPr>
        <p:spPr>
          <a:xfrm>
            <a:off x="7848600" y="2512314"/>
            <a:ext cx="219456" cy="219456"/>
          </a:xfrm>
          <a:prstGeom prst="triangle">
            <a:avLst/>
          </a:prstGeom>
          <a:solidFill>
            <a:srgbClr val="0F8C6A"/>
          </a:solidFill>
          <a:ln w="12700">
            <a:solidFill>
              <a:srgbClr val="0F8C6A"/>
            </a:solidFill>
          </a:ln>
        </p:spPr>
      </p:sp>
      <p:sp>
        <p:nvSpPr>
          <p:cNvPr id="16" name="Process Step"/>
          <p:cNvSpPr txBox="1"/>
          <p:nvPr/>
        </p:nvSpPr>
        <p:spPr>
          <a:xfrm>
            <a:off x="8095488" y="1959102"/>
            <a:ext cx="3288792" cy="132588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03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AI 정책 훈련</a:t>
            </a:r>
            <a:endParaRPr lang="ko-KR" sz="1500"/>
          </a:p>
          <a:p>
            <a:pPr marL="0" indent="0">
              <a:buNone/>
            </a:pPr>
            <a:r>
              <a:rPr lang="ko-KR" sz="12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상황 인식과 동작 선택을 다수 시행착오로 조정</a:t>
            </a:r>
            <a:endParaRPr lang="ko-KR" sz="1200"/>
          </a:p>
        </p:txBody>
      </p:sp>
      <p:sp>
        <p:nvSpPr>
          <p:cNvPr id="17" name="Flow Down Connector"/>
          <p:cNvSpPr/>
          <p:nvPr/>
        </p:nvSpPr>
        <p:spPr>
          <a:xfrm flipH="1">
            <a:off x="2467356" y="3284982"/>
            <a:ext cx="7272528" cy="477774"/>
          </a:xfrm>
          <a:prstGeom prst="line">
            <a:avLst/>
          </a:prstGeom>
          <a:noFill/>
          <a:ln w="9525">
            <a:solidFill>
              <a:srgbClr val="10A37F"/>
            </a:solidFill>
            <a:prstDash val="dash"/>
          </a:ln>
        </p:spPr>
      </p:sp>
      <p:sp>
        <p:nvSpPr>
          <p:cNvPr id="18" name="Process Step"/>
          <p:cNvSpPr txBox="1"/>
          <p:nvPr/>
        </p:nvSpPr>
        <p:spPr>
          <a:xfrm>
            <a:off x="822960" y="3893058"/>
            <a:ext cx="3288792" cy="132588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0F8C6A"/>
                </a:solidFill>
                <a:latin typeface="Arial"/>
                <a:ea typeface="Apple SD Gothic Neo"/>
                <a:cs typeface="Arial"/>
              </a:rPr>
              <a:t>04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검증과 실증</a:t>
            </a:r>
            <a:endParaRPr lang="ko-KR" sz="1500"/>
          </a:p>
          <a:p>
            <a:pPr marL="0" indent="0">
              <a:buNone/>
            </a:pPr>
            <a:r>
              <a:rPr lang="ko-KR" sz="12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자율주행, 드론, 무인결제, 로봇 현장 적용성을 확인</a:t>
            </a:r>
            <a:endParaRPr lang="ko-KR" sz="1200"/>
          </a:p>
        </p:txBody>
      </p:sp>
      <p:sp>
        <p:nvSpPr>
          <p:cNvPr id="19" name="Flow Arrow"/>
          <p:cNvSpPr/>
          <p:nvPr/>
        </p:nvSpPr>
        <p:spPr>
          <a:xfrm>
            <a:off x="4212336" y="4446270"/>
            <a:ext cx="219456" cy="219456"/>
          </a:xfrm>
          <a:prstGeom prst="triangle">
            <a:avLst/>
          </a:prstGeom>
          <a:solidFill>
            <a:srgbClr val="0F8C6A"/>
          </a:solidFill>
          <a:ln w="12700">
            <a:solidFill>
              <a:srgbClr val="0F8C6A"/>
            </a:solidFill>
          </a:ln>
        </p:spPr>
      </p:sp>
      <p:sp>
        <p:nvSpPr>
          <p:cNvPr id="20" name="Process Step"/>
          <p:cNvSpPr txBox="1"/>
          <p:nvPr/>
        </p:nvSpPr>
        <p:spPr>
          <a:xfrm>
            <a:off x="4459224" y="3893058"/>
            <a:ext cx="3288792" cy="132588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05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산업 운영 적용</a:t>
            </a:r>
            <a:endParaRPr lang="ko-KR" sz="1500"/>
          </a:p>
          <a:p>
            <a:pPr marL="0" indent="0">
              <a:buNone/>
            </a:pPr>
            <a:r>
              <a:rPr lang="ko-KR" sz="12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제조·방산·조선 현장의 실제 운영 체계로 확장</a:t>
            </a:r>
            <a:endParaRPr lang="ko-KR" sz="1200"/>
          </a:p>
        </p:txBody>
      </p:sp>
      <p:sp>
        <p:nvSpPr>
          <p:cNvPr id="21" name="Bullet Rule"/>
          <p:cNvSpPr/>
          <p:nvPr/>
        </p:nvSpPr>
        <p:spPr>
          <a:xfrm>
            <a:off x="731520" y="5404103"/>
            <a:ext cx="73152" cy="2743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22" name="Bullet"/>
          <p:cNvSpPr txBox="1"/>
          <p:nvPr/>
        </p:nvSpPr>
        <p:spPr>
          <a:xfrm>
            <a:off x="960120" y="5458968"/>
            <a:ext cx="102870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로봇 AI 개발에는 반복 시행착오를 통한 상황 인식과 동작 조정이 필요하다.</a:t>
            </a:r>
            <a:endParaRPr lang="ko-KR" sz="1200"/>
          </a:p>
        </p:txBody>
      </p:sp>
      <p:sp>
        <p:nvSpPr>
          <p:cNvPr id="23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3</a:t>
            </a:r>
            <a:endParaRPr lang="ko-KR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 Left Wash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DFF6EF">
              <a:alpha val="76000"/>
            </a:srgbClr>
          </a:solidFill>
          <a:ln>
            <a:noFill/>
          </a:ln>
        </p:spPr>
      </p:sp>
      <p:sp>
        <p:nvSpPr>
          <p:cNvPr id="3" name="Comparison Right Wash"/>
          <p:cNvSpPr/>
          <p:nvPr/>
        </p:nvSpPr>
        <p:spPr>
          <a:xfrm>
            <a:off x="6080760" y="0"/>
            <a:ext cx="6126480" cy="6858000"/>
          </a:xfrm>
          <a:prstGeom prst="rect">
            <a:avLst/>
          </a:prstGeom>
          <a:solidFill>
            <a:srgbClr val="DFF6EF">
              <a:alpha val="92000"/>
            </a:srgbClr>
          </a:solidFill>
          <a:ln>
            <a:noFill/>
          </a:ln>
        </p:spPr>
      </p:sp>
      <p:sp>
        <p:nvSpPr>
          <p:cNvPr id="4" name="Comparison Center Rule"/>
          <p:cNvSpPr/>
          <p:nvPr/>
        </p:nvSpPr>
        <p:spPr>
          <a:xfrm>
            <a:off x="6080760" y="594360"/>
            <a:ext cx="1" cy="5074920"/>
          </a:xfrm>
          <a:prstGeom prst="line">
            <a:avLst/>
          </a:prstGeom>
          <a:noFill/>
          <a:ln w="12700">
            <a:solidFill>
              <a:srgbClr val="10A37F"/>
            </a:solidFill>
            <a:prstDash val="dash"/>
          </a:ln>
        </p:spPr>
      </p:sp>
      <p:sp>
        <p:nvSpPr>
          <p:cNvPr id="5" name="Comparison Header Left"/>
          <p:cNvSpPr txBox="1"/>
          <p:nvPr/>
        </p:nvSpPr>
        <p:spPr>
          <a:xfrm>
            <a:off x="777240" y="4937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기업별 행보</a:t>
            </a:r>
            <a:endParaRPr lang="ko-KR" sz="1200"/>
          </a:p>
        </p:txBody>
      </p:sp>
      <p:sp>
        <p:nvSpPr>
          <p:cNvPr id="6" name="Comparison Main Claim"/>
          <p:cNvSpPr txBox="1"/>
          <p:nvPr/>
        </p:nvSpPr>
        <p:spPr>
          <a:xfrm>
            <a:off x="777240" y="841248"/>
            <a:ext cx="102412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9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엔씨와 크래프톤이 로봇 AI로 확장</a:t>
            </a:r>
            <a:endParaRPr lang="ko-KR" sz="1900"/>
          </a:p>
        </p:txBody>
      </p:sp>
      <p:sp>
        <p:nvSpPr>
          <p:cNvPr id="7" name="Scorecard Band"/>
          <p:cNvSpPr txBox="1"/>
          <p:nvPr/>
        </p:nvSpPr>
        <p:spPr>
          <a:xfrm>
            <a:off x="777240" y="1664208"/>
            <a:ext cx="10561320" cy="310896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ko-KR" sz="1350" b="1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비교 관점</a:t>
            </a:r>
            <a:endParaRPr lang="ko-KR" sz="1350"/>
          </a:p>
        </p:txBody>
      </p:sp>
      <p:sp>
        <p:nvSpPr>
          <p:cNvPr id="8" name="Scorecard Top Rule"/>
          <p:cNvSpPr/>
          <p:nvPr/>
        </p:nvSpPr>
        <p:spPr>
          <a:xfrm>
            <a:off x="777240" y="2139696"/>
            <a:ext cx="5074920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9" name="Comparison Column"/>
          <p:cNvSpPr txBox="1"/>
          <p:nvPr/>
        </p:nvSpPr>
        <p:spPr>
          <a:xfrm>
            <a:off x="777240" y="2103120"/>
            <a:ext cx="5074920" cy="288036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10A37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65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엔씨</a:t>
            </a:r>
            <a:endParaRPr lang="ko-KR" sz="165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AI 연구개발 조직 NC AI 분사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VARCO·VAETKI 등 모델 공개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삼성SDS·포스코DX·롯데이노베이트와 과제 참여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현대로템 컨소시엄으로 국방용 로봇 과제 선정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한화오션 조선 현장 자율 용접 로봇 납품 추진</a:t>
            </a:r>
            <a:endParaRPr lang="ko-KR" sz="1500"/>
          </a:p>
        </p:txBody>
      </p:sp>
      <p:sp>
        <p:nvSpPr>
          <p:cNvPr id="10" name="Scorecard Top Rule"/>
          <p:cNvSpPr/>
          <p:nvPr/>
        </p:nvSpPr>
        <p:spPr>
          <a:xfrm>
            <a:off x="6172200" y="2139696"/>
            <a:ext cx="5074920" cy="73152"/>
          </a:xfrm>
          <a:prstGeom prst="rect">
            <a:avLst/>
          </a:prstGeom>
          <a:solidFill>
            <a:srgbClr val="0F8C6A"/>
          </a:solidFill>
          <a:ln w="12700">
            <a:solidFill>
              <a:srgbClr val="0F8C6A"/>
            </a:solidFill>
          </a:ln>
        </p:spPr>
      </p:sp>
      <p:sp>
        <p:nvSpPr>
          <p:cNvPr id="11" name="Comparison Column"/>
          <p:cNvSpPr txBox="1"/>
          <p:nvPr/>
        </p:nvSpPr>
        <p:spPr>
          <a:xfrm>
            <a:off x="6172200" y="2103120"/>
            <a:ext cx="5074920" cy="288036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0F8C6A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650" b="1">
                <a:solidFill>
                  <a:srgbClr val="0F8C6A"/>
                </a:solidFill>
                <a:latin typeface="Arial"/>
                <a:ea typeface="Apple SD Gothic Neo"/>
                <a:cs typeface="Arial"/>
              </a:rPr>
              <a:t>크래프톤</a:t>
            </a:r>
            <a:endParaRPr lang="ko-KR" sz="165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미국 루도 로보틱스 설립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김창한 대표가 미국 본사 CEO 겸임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이강욱 CAIO가 한국지사 대표 선임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휴머노이드 로봇 AI 개발 선언</a:t>
            </a:r>
            <a:endParaRPr lang="ko-KR" sz="1500"/>
          </a:p>
          <a:p>
            <a:pPr marL="0" indent="0">
              <a:buNone/>
            </a:pPr>
            <a:r>
              <a:rPr lang="ko-KR" sz="1500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• 한화에어로스페이스와 피지컬 AI JV MOU 체결</a:t>
            </a:r>
            <a:endParaRPr lang="ko-KR" sz="1500"/>
          </a:p>
        </p:txBody>
      </p:sp>
      <p:sp>
        <p:nvSpPr>
          <p:cNvPr id="12" name="Comparison Divider"/>
          <p:cNvSpPr/>
          <p:nvPr/>
        </p:nvSpPr>
        <p:spPr>
          <a:xfrm>
            <a:off x="5925312" y="1938528"/>
            <a:ext cx="73152" cy="2926080"/>
          </a:xfrm>
          <a:prstGeom prst="rect">
            <a:avLst/>
          </a:prstGeom>
          <a:solidFill>
            <a:srgbClr val="DFF6EF"/>
          </a:solidFill>
          <a:ln>
            <a:noFill/>
          </a:ln>
        </p:spPr>
      </p:sp>
      <p:sp>
        <p:nvSpPr>
          <p:cNvPr id="13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4</a:t>
            </a:r>
            <a:endParaRPr lang="ko-KR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stem Blueprint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6EF">
              <a:alpha val="90000"/>
            </a:srgbClr>
          </a:solidFill>
          <a:ln>
            <a:noFill/>
          </a:ln>
        </p:spPr>
      </p:sp>
      <p:sp>
        <p:nvSpPr>
          <p:cNvPr id="3" name="System Blueprint Guide"/>
          <p:cNvSpPr/>
          <p:nvPr/>
        </p:nvSpPr>
        <p:spPr>
          <a:xfrm>
            <a:off x="146304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4" name="System Blueprint Guide"/>
          <p:cNvSpPr/>
          <p:nvPr/>
        </p:nvSpPr>
        <p:spPr>
          <a:xfrm>
            <a:off x="338328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5" name="System Blueprint Guide"/>
          <p:cNvSpPr/>
          <p:nvPr/>
        </p:nvSpPr>
        <p:spPr>
          <a:xfrm>
            <a:off x="530352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6" name="System Blueprint Guide"/>
          <p:cNvSpPr/>
          <p:nvPr/>
        </p:nvSpPr>
        <p:spPr>
          <a:xfrm>
            <a:off x="722376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7" name="System Blueprint Guide"/>
          <p:cNvSpPr/>
          <p:nvPr/>
        </p:nvSpPr>
        <p:spPr>
          <a:xfrm>
            <a:off x="914400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8" name="System Blueprint Guide"/>
          <p:cNvSpPr/>
          <p:nvPr/>
        </p:nvSpPr>
        <p:spPr>
          <a:xfrm>
            <a:off x="11064240" y="1417320"/>
            <a:ext cx="1" cy="4114800"/>
          </a:xfrm>
          <a:prstGeom prst="line">
            <a:avLst/>
          </a:prstGeom>
          <a:noFill/>
          <a:ln w="3175">
            <a:solidFill>
              <a:srgbClr val="DFF6EF"/>
            </a:solidFill>
            <a:prstDash val="dash"/>
          </a:ln>
        </p:spPr>
      </p:sp>
      <p:sp>
        <p:nvSpPr>
          <p:cNvPr id="9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35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전개 흐름</a:t>
            </a:r>
            <a:endParaRPr lang="ko-KR" sz="1350"/>
          </a:p>
        </p:txBody>
      </p:sp>
      <p:sp>
        <p:nvSpPr>
          <p:cNvPr id="10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28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게임사와 로보틱스 협력이 가속</a:t>
            </a:r>
            <a:endParaRPr lang="ko-KR" sz="2800"/>
          </a:p>
        </p:txBody>
      </p:sp>
      <p:sp>
        <p:nvSpPr>
          <p:cNvPr id="11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DFF6EF"/>
            </a:solidFill>
          </a:ln>
        </p:spPr>
      </p:sp>
      <p:sp>
        <p:nvSpPr>
          <p:cNvPr id="12" name="Timeline Grid Event"/>
          <p:cNvSpPr/>
          <p:nvPr/>
        </p:nvSpPr>
        <p:spPr>
          <a:xfrm>
            <a:off x="822960" y="1719072"/>
            <a:ext cx="5216652" cy="1179575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</p:sp>
      <p:sp>
        <p:nvSpPr>
          <p:cNvPr id="13" name="Timeline Grid Accent"/>
          <p:cNvSpPr/>
          <p:nvPr/>
        </p:nvSpPr>
        <p:spPr>
          <a:xfrm>
            <a:off x="822960" y="1719072"/>
            <a:ext cx="73152" cy="1179575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14" name="Timeline Grid Text"/>
          <p:cNvSpPr txBox="1"/>
          <p:nvPr/>
        </p:nvSpPr>
        <p:spPr>
          <a:xfrm>
            <a:off x="1051560" y="1865376"/>
            <a:ext cx="4777740" cy="9509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지난해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엔씨, NC AI 분사</a:t>
            </a:r>
            <a:endParaRPr lang="ko-KR" sz="1500"/>
          </a:p>
          <a:p>
            <a:pPr marL="0" indent="0">
              <a:buNone/>
            </a:pPr>
            <a:r>
              <a:rPr lang="ko-KR" sz="11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생성형 AI와 멀티모달 모델 기반 확보</a:t>
            </a:r>
            <a:endParaRPr lang="ko-KR" sz="1100"/>
          </a:p>
        </p:txBody>
      </p:sp>
      <p:sp>
        <p:nvSpPr>
          <p:cNvPr id="15" name="Timeline Grid Event"/>
          <p:cNvSpPr/>
          <p:nvPr/>
        </p:nvSpPr>
        <p:spPr>
          <a:xfrm>
            <a:off x="6259068" y="1719072"/>
            <a:ext cx="5216652" cy="1179575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</p:sp>
      <p:sp>
        <p:nvSpPr>
          <p:cNvPr id="16" name="Timeline Grid Accent"/>
          <p:cNvSpPr/>
          <p:nvPr/>
        </p:nvSpPr>
        <p:spPr>
          <a:xfrm>
            <a:off x="6259068" y="1719072"/>
            <a:ext cx="73152" cy="1179575"/>
          </a:xfrm>
          <a:prstGeom prst="rect">
            <a:avLst/>
          </a:prstGeom>
          <a:solidFill>
            <a:srgbClr val="0F8C6A"/>
          </a:solidFill>
          <a:ln w="12700">
            <a:solidFill>
              <a:srgbClr val="0F8C6A"/>
            </a:solidFill>
          </a:ln>
        </p:spPr>
      </p:sp>
      <p:sp>
        <p:nvSpPr>
          <p:cNvPr id="17" name="Timeline Grid Text"/>
          <p:cNvSpPr txBox="1"/>
          <p:nvPr/>
        </p:nvSpPr>
        <p:spPr>
          <a:xfrm>
            <a:off x="6487668" y="1865376"/>
            <a:ext cx="4777740" cy="9509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0F8C6A"/>
                </a:solidFill>
                <a:latin typeface="Arial"/>
                <a:ea typeface="Apple SD Gothic Neo"/>
                <a:cs typeface="Arial"/>
              </a:rPr>
              <a:t>올해 초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피지컬 AI 과제 참여</a:t>
            </a:r>
            <a:endParaRPr lang="ko-KR" sz="1500"/>
          </a:p>
          <a:p>
            <a:pPr marL="0" indent="0">
              <a:buNone/>
            </a:pPr>
            <a:r>
              <a:rPr lang="ko-KR" sz="11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삼성SDS·포스코DX·롯데이노베이트 등과 컨소시엄</a:t>
            </a:r>
            <a:endParaRPr lang="ko-KR" sz="1100"/>
          </a:p>
        </p:txBody>
      </p:sp>
      <p:sp>
        <p:nvSpPr>
          <p:cNvPr id="18" name="Timeline Grid Event"/>
          <p:cNvSpPr/>
          <p:nvPr/>
        </p:nvSpPr>
        <p:spPr>
          <a:xfrm>
            <a:off x="822960" y="3118103"/>
            <a:ext cx="5216652" cy="1179575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</p:sp>
      <p:sp>
        <p:nvSpPr>
          <p:cNvPr id="19" name="Timeline Grid Accent"/>
          <p:cNvSpPr/>
          <p:nvPr/>
        </p:nvSpPr>
        <p:spPr>
          <a:xfrm>
            <a:off x="822960" y="3118103"/>
            <a:ext cx="73152" cy="1179575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20" name="Timeline Grid Text"/>
          <p:cNvSpPr txBox="1"/>
          <p:nvPr/>
        </p:nvSpPr>
        <p:spPr>
          <a:xfrm>
            <a:off x="1051560" y="3264408"/>
            <a:ext cx="4777740" cy="9509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지난달 말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국방용 로봇 과제 선정</a:t>
            </a:r>
            <a:endParaRPr lang="ko-KR" sz="1500"/>
          </a:p>
          <a:p>
            <a:pPr marL="0" indent="0">
              <a:buNone/>
            </a:pPr>
            <a:r>
              <a:rPr lang="ko-KR" sz="11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현대로템과 컨소시엄 구성</a:t>
            </a:r>
            <a:endParaRPr lang="ko-KR" sz="1100"/>
          </a:p>
        </p:txBody>
      </p:sp>
      <p:sp>
        <p:nvSpPr>
          <p:cNvPr id="21" name="Timeline Grid Event"/>
          <p:cNvSpPr/>
          <p:nvPr/>
        </p:nvSpPr>
        <p:spPr>
          <a:xfrm>
            <a:off x="6259068" y="3118103"/>
            <a:ext cx="5216652" cy="1179575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</p:sp>
      <p:sp>
        <p:nvSpPr>
          <p:cNvPr id="22" name="Timeline Grid Accent"/>
          <p:cNvSpPr/>
          <p:nvPr/>
        </p:nvSpPr>
        <p:spPr>
          <a:xfrm>
            <a:off x="6259068" y="3118103"/>
            <a:ext cx="73152" cy="1179575"/>
          </a:xfrm>
          <a:prstGeom prst="rect">
            <a:avLst/>
          </a:prstGeom>
          <a:solidFill>
            <a:srgbClr val="0F8C6A"/>
          </a:solidFill>
          <a:ln w="12700">
            <a:solidFill>
              <a:srgbClr val="0F8C6A"/>
            </a:solidFill>
          </a:ln>
        </p:spPr>
      </p:sp>
      <p:sp>
        <p:nvSpPr>
          <p:cNvPr id="23" name="Timeline Grid Text"/>
          <p:cNvSpPr txBox="1"/>
          <p:nvPr/>
        </p:nvSpPr>
        <p:spPr>
          <a:xfrm>
            <a:off x="6487668" y="3264408"/>
            <a:ext cx="4777740" cy="9509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0F8C6A"/>
                </a:solidFill>
                <a:latin typeface="Arial"/>
                <a:ea typeface="Apple SD Gothic Neo"/>
                <a:cs typeface="Arial"/>
              </a:rPr>
              <a:t>올해 초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크래프톤, 루도 로보틱스 설립</a:t>
            </a:r>
            <a:endParaRPr lang="ko-KR" sz="1500"/>
          </a:p>
          <a:p>
            <a:pPr marL="0" indent="0">
              <a:buNone/>
            </a:pPr>
            <a:r>
              <a:rPr lang="ko-KR" sz="11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휴머노이드 로봇 AI 개발 선언</a:t>
            </a:r>
            <a:endParaRPr lang="ko-KR" sz="1100"/>
          </a:p>
        </p:txBody>
      </p:sp>
      <p:sp>
        <p:nvSpPr>
          <p:cNvPr id="24" name="Timeline Grid Event"/>
          <p:cNvSpPr/>
          <p:nvPr/>
        </p:nvSpPr>
        <p:spPr>
          <a:xfrm>
            <a:off x="822960" y="4517136"/>
            <a:ext cx="5216652" cy="1179575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</p:sp>
      <p:sp>
        <p:nvSpPr>
          <p:cNvPr id="25" name="Timeline Grid Accent"/>
          <p:cNvSpPr/>
          <p:nvPr/>
        </p:nvSpPr>
        <p:spPr>
          <a:xfrm>
            <a:off x="822960" y="4517136"/>
            <a:ext cx="73152" cy="1179575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</a:ln>
        </p:spPr>
      </p:sp>
      <p:sp>
        <p:nvSpPr>
          <p:cNvPr id="26" name="Timeline Grid Text"/>
          <p:cNvSpPr txBox="1"/>
          <p:nvPr/>
        </p:nvSpPr>
        <p:spPr>
          <a:xfrm>
            <a:off x="1051560" y="4663440"/>
            <a:ext cx="4777740" cy="9509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3월</a:t>
            </a:r>
            <a:endParaRPr lang="ko-KR" sz="1100"/>
          </a:p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한화에어로스페이스 MOU</a:t>
            </a:r>
            <a:endParaRPr lang="ko-KR" sz="1500"/>
          </a:p>
          <a:p>
            <a:pPr marL="0" indent="0">
              <a:buNone/>
            </a:pPr>
            <a:r>
              <a:rPr lang="ko-KR" sz="1100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피지컬 AI 합작법인 설립 추진</a:t>
            </a:r>
            <a:endParaRPr lang="ko-KR" sz="1100"/>
          </a:p>
        </p:txBody>
      </p:sp>
      <p:sp>
        <p:nvSpPr>
          <p:cNvPr id="27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5</a:t>
            </a:r>
            <a:endParaRPr lang="ko-KR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keaway Full Bleed Band"/>
          <p:cNvSpPr/>
          <p:nvPr/>
        </p:nvSpPr>
        <p:spPr>
          <a:xfrm>
            <a:off x="0" y="4370832"/>
            <a:ext cx="12192000" cy="2057400"/>
          </a:xfrm>
          <a:prstGeom prst="rect">
            <a:avLst/>
          </a:prstGeom>
          <a:solidFill>
            <a:srgbClr val="10A37F">
              <a:alpha val="18000"/>
            </a:srgbClr>
          </a:solidFill>
          <a:ln>
            <a:noFill/>
          </a:ln>
        </p:spPr>
      </p:sp>
      <p:sp>
        <p:nvSpPr>
          <p:cNvPr id="3" name="Takeaway Accent Block"/>
          <p:cNvSpPr/>
          <p:nvPr/>
        </p:nvSpPr>
        <p:spPr>
          <a:xfrm>
            <a:off x="8778240" y="548640"/>
            <a:ext cx="2286000" cy="2286000"/>
          </a:xfrm>
          <a:prstGeom prst="ellipse">
            <a:avLst/>
          </a:prstGeom>
          <a:solidFill>
            <a:srgbClr val="0F8C6A">
              <a:alpha val="16000"/>
            </a:srgbClr>
          </a:solidFill>
          <a:ln>
            <a:noFill/>
          </a:ln>
        </p:spPr>
      </p:sp>
      <p:sp>
        <p:nvSpPr>
          <p:cNvPr id="4" name="Takeaway Small Label"/>
          <p:cNvSpPr txBox="1"/>
          <p:nvPr/>
        </p:nvSpPr>
        <p:spPr>
          <a:xfrm>
            <a:off x="841248" y="658368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Strategic Takeaway</a:t>
            </a:r>
            <a:endParaRPr lang="ko-KR" sz="1200"/>
          </a:p>
        </p:txBody>
      </p:sp>
      <p:sp>
        <p:nvSpPr>
          <p:cNvPr id="5" name="Takeaway Big Claim"/>
          <p:cNvSpPr txBox="1"/>
          <p:nvPr/>
        </p:nvSpPr>
        <p:spPr>
          <a:xfrm>
            <a:off x="822960" y="100584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9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게임은 피지컬 AI 전환의 핵심 키</a:t>
            </a:r>
            <a:endParaRPr lang="ko-KR" sz="1900"/>
          </a:p>
        </p:txBody>
      </p:sp>
      <p:sp>
        <p:nvSpPr>
          <p:cNvPr id="6" name="Decision Panel"/>
          <p:cNvSpPr txBox="1"/>
          <p:nvPr/>
        </p:nvSpPr>
        <p:spPr>
          <a:xfrm>
            <a:off x="777240" y="1737360"/>
            <a:ext cx="5029200" cy="3246120"/>
          </a:xfrm>
          <a:prstGeom prst="roundRect">
            <a:avLst>
              <a:gd name="adj" fmla="val 9000"/>
            </a:avLst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500" b="1">
                <a:solidFill>
                  <a:srgbClr val="10A37F"/>
                </a:solidFill>
                <a:latin typeface="Arial"/>
                <a:ea typeface="Apple SD Gothic Neo"/>
                <a:cs typeface="Arial"/>
              </a:rPr>
              <a:t>결론</a:t>
            </a:r>
            <a:endParaRPr lang="ko-KR" sz="1500"/>
          </a:p>
          <a:p>
            <a:pPr marL="0" indent="0">
              <a:buNone/>
            </a:pPr>
            <a:r>
              <a:rPr lang="ko-KR" sz="2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게임은 피지컬 AI 전환의 핵심 키</a:t>
            </a:r>
            <a:endParaRPr lang="ko-KR" sz="2500"/>
          </a:p>
        </p:txBody>
      </p:sp>
      <p:sp>
        <p:nvSpPr>
          <p:cNvPr id="7" name="Decision Item"/>
          <p:cNvSpPr txBox="1"/>
          <p:nvPr/>
        </p:nvSpPr>
        <p:spPr>
          <a:xfrm>
            <a:off x="6080760" y="1874519"/>
            <a:ext cx="4846320" cy="566928"/>
          </a:xfrm>
          <a:prstGeom prst="rect">
            <a:avLst/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1. 게임사의 강점은 콘텐츠가 아니라 상호작용 가능한 세계를 만드는 기술이다.</a:t>
            </a:r>
            <a:endParaRPr lang="ko-KR" sz="1500"/>
          </a:p>
        </p:txBody>
      </p:sp>
      <p:sp>
        <p:nvSpPr>
          <p:cNvPr id="8" name="Decision Item"/>
          <p:cNvSpPr txBox="1"/>
          <p:nvPr/>
        </p:nvSpPr>
        <p:spPr>
          <a:xfrm>
            <a:off x="6080760" y="2587752"/>
            <a:ext cx="4846320" cy="566928"/>
          </a:xfrm>
          <a:prstGeom prst="rect">
            <a:avLst/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2. 피지컬 AI는 가상 환경에서 현실 행동을 학습해야 하므로 게임엔진 역량과 맞물린다.</a:t>
            </a:r>
            <a:endParaRPr lang="ko-KR" sz="1500"/>
          </a:p>
        </p:txBody>
      </p:sp>
      <p:sp>
        <p:nvSpPr>
          <p:cNvPr id="9" name="Decision Item"/>
          <p:cNvSpPr txBox="1"/>
          <p:nvPr/>
        </p:nvSpPr>
        <p:spPr>
          <a:xfrm>
            <a:off x="6080760" y="3300984"/>
            <a:ext cx="4846320" cy="566928"/>
          </a:xfrm>
          <a:prstGeom prst="rect">
            <a:avLst/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3. 엔씨·크래프톤 사례는 게임사가 제조·방산·로보틱스 밸류체인으로 이동하고 있음을 보여준…</a:t>
            </a:r>
            <a:endParaRPr lang="ko-KR" sz="1500"/>
          </a:p>
        </p:txBody>
      </p:sp>
      <p:sp>
        <p:nvSpPr>
          <p:cNvPr id="10" name="Decision Item"/>
          <p:cNvSpPr txBox="1"/>
          <p:nvPr/>
        </p:nvSpPr>
        <p:spPr>
          <a:xfrm>
            <a:off x="6080760" y="4014216"/>
            <a:ext cx="4846320" cy="566928"/>
          </a:xfrm>
          <a:prstGeom prst="rect">
            <a:avLst/>
          </a:prstGeom>
          <a:solidFill>
            <a:srgbClr val="DFF6EF"/>
          </a:solidFill>
          <a:ln w="12700">
            <a:solidFill>
              <a:srgbClr val="DFF6EF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500" b="1">
                <a:solidFill>
                  <a:srgbClr val="1A1A1A"/>
                </a:solidFill>
                <a:latin typeface="Arial"/>
                <a:ea typeface="Apple SD Gothic Neo"/>
                <a:cs typeface="Arial"/>
              </a:rPr>
              <a:t>4. 향후 경쟁력은 모델 자체보다 훈련 환경, 시뮬레이션 데이터, 산업 실증 연결에서 갈릴…</a:t>
            </a:r>
            <a:endParaRPr lang="ko-KR" sz="1500"/>
          </a:p>
        </p:txBody>
      </p:sp>
      <p:sp>
        <p:nvSpPr>
          <p:cNvPr id="11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4A4A4A"/>
                </a:solidFill>
                <a:latin typeface="Arial"/>
                <a:ea typeface="Apple SD Gothic Neo"/>
                <a:cs typeface="Arial"/>
              </a:rPr>
              <a:t>6</a:t>
            </a:r>
            <a:endParaRPr lang="ko-KR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DeckSpec OOXML renderer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게임산업과 피지컬 AI의 접점</dc:title>
  <dc:creator>make_ppt.py</dc:creator>
</cp:coreProperties>
</file>