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notesMaster" Target="notesMasters/notesMaster1.xml"/> <Relationship Id="rId9" Type="http://schemas.openxmlformats.org/officeDocument/2006/relationships/presProps" Target="presProps.xml"/> <Relationship Id="rId10" Type="http://schemas.openxmlformats.org/officeDocument/2006/relationships/viewProps" Target="viewProps.xml"/> <Relationship Id="rId11" Type="http://schemas.openxmlformats.org/officeDocument/2006/relationships/theme" Target="theme/theme1.xml"/> <Relationship Id="rId12" Type="http://schemas.openxmlformats.org/officeDocument/2006/relationships/tableStyles" Target="tableStyles.xml"/>
</Relationships>
</file>

<file path=ppt/notesMasters/_rels/notesMaster1.xml.rels><?xml version="1.0" encoding="UTF-8" standalone="yes"?>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>
              <a:alpha val="17000"/>
            </a:srgbClr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8046720" y="0"/>
            <a:ext cx="4160520" cy="566928"/>
          </a:xfrm>
          <a:prstGeom prst="rect">
            <a:avLst/>
          </a:prstGeom>
          <a:solidFill>
            <a:srgbClr val="0F766E">
              <a:alpha val="12000"/>
            </a:srgbClr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594360" y="31089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2563EB"/>
                </a:solidFill>
                <a:latin typeface="Aptos"/>
                <a:ea typeface="Malgun Gothic"/>
                <a:cs typeface="Aptos"/>
              </a:rPr>
              <a:t>사고 개요</a:t>
            </a:r>
            <a:endParaRPr lang="ko-KR" sz="1100"/>
          </a:p>
        </p:txBody>
      </p:sp>
      <p:sp>
        <p:nvSpPr>
          <p:cNvPr id="5" name="Title"/>
          <p:cNvSpPr txBox="1"/>
          <p:nvPr/>
        </p:nvSpPr>
        <p:spPr>
          <a:xfrm>
            <a:off x="594360" y="658368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3000" b="1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대전공장 폭발로 7명 사상</a:t>
            </a:r>
            <a:endParaRPr lang="ko-KR" sz="3000"/>
          </a:p>
        </p:txBody>
      </p:sp>
      <p:sp>
        <p:nvSpPr>
          <p:cNvPr id="6" name="Divider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7" name="Bullet Background"/>
          <p:cNvSpPr/>
          <p:nvPr/>
        </p:nvSpPr>
        <p:spPr>
          <a:xfrm>
            <a:off x="731520" y="1783080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8" name="Bullet"/>
          <p:cNvSpPr txBox="1"/>
          <p:nvPr/>
        </p:nvSpPr>
        <p:spPr>
          <a:xfrm>
            <a:off x="960120" y="1856231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6월 1일 오전 10시 59분 폭발 발생</a:t>
            </a:r>
            <a:endParaRPr lang="ko-KR" sz="1800"/>
          </a:p>
        </p:txBody>
      </p:sp>
      <p:sp>
        <p:nvSpPr>
          <p:cNvPr id="9" name="Bullet Background"/>
          <p:cNvSpPr/>
          <p:nvPr/>
        </p:nvSpPr>
        <p:spPr>
          <a:xfrm>
            <a:off x="731520" y="2496312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0" name="Bullet"/>
          <p:cNvSpPr txBox="1"/>
          <p:nvPr/>
        </p:nvSpPr>
        <p:spPr>
          <a:xfrm>
            <a:off x="960120" y="2569464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대전 유성구 외삼동 대전공장 사고</a:t>
            </a:r>
            <a:endParaRPr lang="ko-KR" sz="1800"/>
          </a:p>
        </p:txBody>
      </p:sp>
      <p:sp>
        <p:nvSpPr>
          <p:cNvPr id="11" name="Bullet Background"/>
          <p:cNvSpPr/>
          <p:nvPr/>
        </p:nvSpPr>
        <p:spPr>
          <a:xfrm>
            <a:off x="731520" y="3209544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2" name="Bullet"/>
          <p:cNvSpPr txBox="1"/>
          <p:nvPr/>
        </p:nvSpPr>
        <p:spPr>
          <a:xfrm>
            <a:off x="960120" y="3282696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5명 사망, 1명 중상, 1명 경상</a:t>
            </a:r>
            <a:endParaRPr lang="ko-KR" sz="1800"/>
          </a:p>
        </p:txBody>
      </p:sp>
      <p:sp>
        <p:nvSpPr>
          <p:cNvPr id="13" name="Bullet Background"/>
          <p:cNvSpPr/>
          <p:nvPr/>
        </p:nvSpPr>
        <p:spPr>
          <a:xfrm>
            <a:off x="731520" y="3922776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4" name="Bullet"/>
          <p:cNvSpPr txBox="1"/>
          <p:nvPr/>
        </p:nvSpPr>
        <p:spPr>
          <a:xfrm>
            <a:off x="960120" y="3995928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56동 세척 공실에서 폭발 파악</a:t>
            </a:r>
            <a:endParaRPr lang="ko-KR" sz="1800"/>
          </a:p>
        </p:txBody>
      </p:sp>
      <p:sp>
        <p:nvSpPr>
          <p:cNvPr id="15" name="Speaker Note"/>
          <p:cNvSpPr txBox="1"/>
          <p:nvPr/>
        </p:nvSpPr>
        <p:spPr>
          <a:xfrm>
            <a:off x="731520" y="589788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00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사고 발생 시각, 장소, 피해 규모, 초기 파악된 폭발 지점을 요약한다.</a:t>
            </a:r>
            <a:endParaRPr lang="ko-KR" sz="1000"/>
          </a:p>
        </p:txBody>
      </p:sp>
      <p:sp>
        <p:nvSpPr>
          <p:cNvPr id="16" name="Page Number"/>
          <p:cNvSpPr txBox="1"/>
          <p:nvPr/>
        </p:nvSpPr>
        <p:spPr>
          <a:xfrm>
            <a:off x="10972800" y="58978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00" b="1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1</a:t>
            </a:r>
            <a:endParaRPr lang="ko-K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>
              <a:alpha val="17000"/>
            </a:srgbClr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8046720" y="0"/>
            <a:ext cx="4160520" cy="566928"/>
          </a:xfrm>
          <a:prstGeom prst="rect">
            <a:avLst/>
          </a:prstGeom>
          <a:solidFill>
            <a:srgbClr val="0F766E">
              <a:alpha val="12000"/>
            </a:srgbClr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594360" y="31089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2563EB"/>
                </a:solidFill>
                <a:latin typeface="Aptos"/>
                <a:ea typeface="Malgun Gothic"/>
                <a:cs typeface="Aptos"/>
              </a:rPr>
              <a:t>핵심 피해 지표</a:t>
            </a:r>
            <a:endParaRPr lang="ko-KR" sz="1100"/>
          </a:p>
        </p:txBody>
      </p:sp>
      <p:sp>
        <p:nvSpPr>
          <p:cNvPr id="5" name="Title"/>
          <p:cNvSpPr txBox="1"/>
          <p:nvPr/>
        </p:nvSpPr>
        <p:spPr>
          <a:xfrm>
            <a:off x="594360" y="658368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3000" b="1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인명 피해와 소방 대응 규모</a:t>
            </a:r>
            <a:endParaRPr lang="ko-KR" sz="3000"/>
          </a:p>
        </p:txBody>
      </p:sp>
      <p:sp>
        <p:nvSpPr>
          <p:cNvPr id="6" name="Divider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7" name="Metric Card"/>
          <p:cNvSpPr/>
          <p:nvPr/>
        </p:nvSpPr>
        <p:spPr>
          <a:xfrm>
            <a:off x="731520" y="1828800"/>
            <a:ext cx="3401568" cy="214884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8" name="Metric Accent"/>
          <p:cNvSpPr/>
          <p:nvPr/>
        </p:nvSpPr>
        <p:spPr>
          <a:xfrm>
            <a:off x="731520" y="182880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</p:sp>
      <p:sp>
        <p:nvSpPr>
          <p:cNvPr id="9" name="Metric Label"/>
          <p:cNvSpPr txBox="1"/>
          <p:nvPr/>
        </p:nvSpPr>
        <p:spPr>
          <a:xfrm>
            <a:off x="987552" y="1993392"/>
            <a:ext cx="2990088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50" b="1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사망자</a:t>
            </a:r>
            <a:endParaRPr lang="ko-KR" sz="1150"/>
          </a:p>
        </p:txBody>
      </p:sp>
      <p:sp>
        <p:nvSpPr>
          <p:cNvPr id="10" name="Metric Value"/>
          <p:cNvSpPr txBox="1"/>
          <p:nvPr/>
        </p:nvSpPr>
        <p:spPr>
          <a:xfrm>
            <a:off x="987552" y="2395728"/>
            <a:ext cx="2990088" cy="6035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2800" b="1">
                <a:solidFill>
                  <a:srgbClr val="F59E0B"/>
                </a:solidFill>
                <a:latin typeface="Aptos"/>
                <a:ea typeface="Malgun Gothic"/>
                <a:cs typeface="Aptos"/>
              </a:rPr>
              <a:t>5명</a:t>
            </a:r>
            <a:endParaRPr lang="ko-KR" sz="2800"/>
          </a:p>
        </p:txBody>
      </p:sp>
      <p:sp>
        <p:nvSpPr>
          <p:cNvPr id="11" name="Metric Delta"/>
          <p:cNvSpPr txBox="1"/>
          <p:nvPr/>
        </p:nvSpPr>
        <p:spPr>
          <a:xfrm>
            <a:off x="987552" y="3017520"/>
            <a:ext cx="299008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600" b="1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전원 사업장 내 발견</a:t>
            </a:r>
            <a:endParaRPr lang="ko-KR" sz="1600"/>
          </a:p>
        </p:txBody>
      </p:sp>
      <p:sp>
        <p:nvSpPr>
          <p:cNvPr id="12" name="Metric Context"/>
          <p:cNvSpPr txBox="1"/>
          <p:nvPr/>
        </p:nvSpPr>
        <p:spPr>
          <a:xfrm>
            <a:off x="987552" y="3456432"/>
            <a:ext cx="299008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50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생산팀 소속 현장 근로자</a:t>
            </a:r>
            <a:endParaRPr lang="ko-KR" sz="1050"/>
          </a:p>
        </p:txBody>
      </p:sp>
      <p:sp>
        <p:nvSpPr>
          <p:cNvPr id="13" name="Metric Card"/>
          <p:cNvSpPr/>
          <p:nvPr/>
        </p:nvSpPr>
        <p:spPr>
          <a:xfrm>
            <a:off x="4398264" y="1828800"/>
            <a:ext cx="3401568" cy="214884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4" name="Metric Accent"/>
          <p:cNvSpPr/>
          <p:nvPr/>
        </p:nvSpPr>
        <p:spPr>
          <a:xfrm>
            <a:off x="4398264" y="1828800"/>
            <a:ext cx="73152" cy="2148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</p:sp>
      <p:sp>
        <p:nvSpPr>
          <p:cNvPr id="15" name="Metric Label"/>
          <p:cNvSpPr txBox="1"/>
          <p:nvPr/>
        </p:nvSpPr>
        <p:spPr>
          <a:xfrm>
            <a:off x="4654296" y="1993392"/>
            <a:ext cx="2990088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50" b="1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부상자</a:t>
            </a:r>
            <a:endParaRPr lang="ko-KR" sz="1150"/>
          </a:p>
        </p:txBody>
      </p:sp>
      <p:sp>
        <p:nvSpPr>
          <p:cNvPr id="16" name="Metric Value"/>
          <p:cNvSpPr txBox="1"/>
          <p:nvPr/>
        </p:nvSpPr>
        <p:spPr>
          <a:xfrm>
            <a:off x="4654296" y="2395728"/>
            <a:ext cx="2990088" cy="6035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2800" b="1">
                <a:solidFill>
                  <a:srgbClr val="0F766E"/>
                </a:solidFill>
                <a:latin typeface="Aptos"/>
                <a:ea typeface="Malgun Gothic"/>
                <a:cs typeface="Aptos"/>
              </a:rPr>
              <a:t>2명</a:t>
            </a:r>
            <a:endParaRPr lang="ko-KR" sz="2800"/>
          </a:p>
        </p:txBody>
      </p:sp>
      <p:sp>
        <p:nvSpPr>
          <p:cNvPr id="17" name="Metric Delta"/>
          <p:cNvSpPr txBox="1"/>
          <p:nvPr/>
        </p:nvSpPr>
        <p:spPr>
          <a:xfrm>
            <a:off x="4654296" y="3017520"/>
            <a:ext cx="299008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600" b="1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1명 중상·1명 경상</a:t>
            </a:r>
            <a:endParaRPr lang="ko-KR" sz="1600"/>
          </a:p>
        </p:txBody>
      </p:sp>
      <p:sp>
        <p:nvSpPr>
          <p:cNvPr id="18" name="Metric Context"/>
          <p:cNvSpPr txBox="1"/>
          <p:nvPr/>
        </p:nvSpPr>
        <p:spPr>
          <a:xfrm>
            <a:off x="4654296" y="3456432"/>
            <a:ext cx="299008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50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자력 탈출 후 구조</a:t>
            </a:r>
            <a:endParaRPr lang="ko-KR" sz="1050"/>
          </a:p>
        </p:txBody>
      </p:sp>
      <p:sp>
        <p:nvSpPr>
          <p:cNvPr id="19" name="Metric Card"/>
          <p:cNvSpPr/>
          <p:nvPr/>
        </p:nvSpPr>
        <p:spPr>
          <a:xfrm>
            <a:off x="8065008" y="1828800"/>
            <a:ext cx="3401568" cy="2148840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20" name="Metric Accent"/>
          <p:cNvSpPr/>
          <p:nvPr/>
        </p:nvSpPr>
        <p:spPr>
          <a:xfrm>
            <a:off x="8065008" y="1828800"/>
            <a:ext cx="73152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</p:sp>
      <p:sp>
        <p:nvSpPr>
          <p:cNvPr id="21" name="Metric Label"/>
          <p:cNvSpPr txBox="1"/>
          <p:nvPr/>
        </p:nvSpPr>
        <p:spPr>
          <a:xfrm>
            <a:off x="8321040" y="1993392"/>
            <a:ext cx="2990088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50" b="1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신고</a:t>
            </a:r>
            <a:endParaRPr lang="ko-KR" sz="1150"/>
          </a:p>
        </p:txBody>
      </p:sp>
      <p:sp>
        <p:nvSpPr>
          <p:cNvPr id="22" name="Metric Value"/>
          <p:cNvSpPr txBox="1"/>
          <p:nvPr/>
        </p:nvSpPr>
        <p:spPr>
          <a:xfrm>
            <a:off x="8321040" y="2395728"/>
            <a:ext cx="2990088" cy="60350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2800" b="1">
                <a:solidFill>
                  <a:srgbClr val="2563EB"/>
                </a:solidFill>
                <a:latin typeface="Aptos"/>
                <a:ea typeface="Malgun Gothic"/>
                <a:cs typeface="Aptos"/>
              </a:rPr>
              <a:t>30여건</a:t>
            </a:r>
            <a:endParaRPr lang="ko-KR" sz="2800"/>
          </a:p>
        </p:txBody>
      </p:sp>
      <p:sp>
        <p:nvSpPr>
          <p:cNvPr id="23" name="Metric Delta"/>
          <p:cNvSpPr txBox="1"/>
          <p:nvPr/>
        </p:nvSpPr>
        <p:spPr>
          <a:xfrm>
            <a:off x="8321040" y="3017520"/>
            <a:ext cx="2990088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600" b="1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동시간대 119 신고</a:t>
            </a:r>
            <a:endParaRPr lang="ko-KR" sz="1600"/>
          </a:p>
        </p:txBody>
      </p:sp>
      <p:sp>
        <p:nvSpPr>
          <p:cNvPr id="24" name="Metric Context"/>
          <p:cNvSpPr txBox="1"/>
          <p:nvPr/>
        </p:nvSpPr>
        <p:spPr>
          <a:xfrm>
            <a:off x="8321040" y="3456432"/>
            <a:ext cx="299008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50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폭발음·연기 신고</a:t>
            </a:r>
            <a:endParaRPr lang="ko-KR" sz="1050"/>
          </a:p>
        </p:txBody>
      </p:sp>
      <p:sp>
        <p:nvSpPr>
          <p:cNvPr id="25" name="Speaker Note"/>
          <p:cNvSpPr txBox="1"/>
          <p:nvPr/>
        </p:nvSpPr>
        <p:spPr>
          <a:xfrm>
            <a:off x="731520" y="589788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00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피해 규모와 신고 상황을 핵심 숫자로 정리해 사고의 중대성을 전달한다.</a:t>
            </a:r>
            <a:endParaRPr lang="ko-KR" sz="1000"/>
          </a:p>
        </p:txBody>
      </p:sp>
      <p:sp>
        <p:nvSpPr>
          <p:cNvPr id="26" name="Page Number"/>
          <p:cNvSpPr txBox="1"/>
          <p:nvPr/>
        </p:nvSpPr>
        <p:spPr>
          <a:xfrm>
            <a:off x="10972800" y="58978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00" b="1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2</a:t>
            </a:r>
            <a:endParaRPr lang="ko-KR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>
              <a:alpha val="17000"/>
            </a:srgbClr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8046720" y="0"/>
            <a:ext cx="4160520" cy="566928"/>
          </a:xfrm>
          <a:prstGeom prst="rect">
            <a:avLst/>
          </a:prstGeom>
          <a:solidFill>
            <a:srgbClr val="0F766E">
              <a:alpha val="12000"/>
            </a:srgbClr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594360" y="31089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2563EB"/>
                </a:solidFill>
                <a:latin typeface="Aptos"/>
                <a:ea typeface="Malgun Gothic"/>
                <a:cs typeface="Aptos"/>
              </a:rPr>
              <a:t>사망자 구성</a:t>
            </a:r>
            <a:endParaRPr lang="ko-KR" sz="1100"/>
          </a:p>
        </p:txBody>
      </p:sp>
      <p:sp>
        <p:nvSpPr>
          <p:cNvPr id="5" name="Title"/>
          <p:cNvSpPr txBox="1"/>
          <p:nvPr/>
        </p:nvSpPr>
        <p:spPr>
          <a:xfrm>
            <a:off x="594360" y="658368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3000" b="1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사망자는 계약직 2명과 정규직 3명</a:t>
            </a:r>
            <a:endParaRPr lang="ko-KR" sz="3000"/>
          </a:p>
        </p:txBody>
      </p:sp>
      <p:sp>
        <p:nvSpPr>
          <p:cNvPr id="6" name="Divider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7" name="Chart Title"/>
          <p:cNvSpPr txBox="1"/>
          <p:nvPr/>
        </p:nvSpPr>
        <p:spPr>
          <a:xfrm>
            <a:off x="777240" y="173736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400" b="1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사망자 고용 형태</a:t>
            </a:r>
            <a:endParaRPr lang="ko-KR" sz="1400"/>
          </a:p>
        </p:txBody>
      </p:sp>
      <p:sp>
        <p:nvSpPr>
          <p:cNvPr id="8" name="Bar Label"/>
          <p:cNvSpPr txBox="1"/>
          <p:nvPr/>
        </p:nvSpPr>
        <p:spPr>
          <a:xfrm>
            <a:off x="822960" y="228600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250" b="1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계약직</a:t>
            </a:r>
            <a:endParaRPr lang="ko-KR" sz="1250"/>
          </a:p>
        </p:txBody>
      </p:sp>
      <p:sp>
        <p:nvSpPr>
          <p:cNvPr id="9" name="Bar Track"/>
          <p:cNvSpPr/>
          <p:nvPr/>
        </p:nvSpPr>
        <p:spPr>
          <a:xfrm>
            <a:off x="2423160" y="2322576"/>
            <a:ext cx="6035040" cy="25603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0" name="Bar Value"/>
          <p:cNvSpPr/>
          <p:nvPr/>
        </p:nvSpPr>
        <p:spPr>
          <a:xfrm>
            <a:off x="2423160" y="2322576"/>
            <a:ext cx="4023359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</p:sp>
      <p:sp>
        <p:nvSpPr>
          <p:cNvPr id="11" name="Bar Number"/>
          <p:cNvSpPr txBox="1"/>
          <p:nvPr/>
        </p:nvSpPr>
        <p:spPr>
          <a:xfrm>
            <a:off x="8686800" y="2258568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250" b="1">
                <a:solidFill>
                  <a:srgbClr val="F59E0B"/>
                </a:solidFill>
                <a:latin typeface="Aptos"/>
                <a:ea typeface="Malgun Gothic"/>
                <a:cs typeface="Aptos"/>
              </a:rPr>
              <a:t>2명</a:t>
            </a:r>
            <a:endParaRPr lang="ko-KR" sz="1250"/>
          </a:p>
        </p:txBody>
      </p:sp>
      <p:sp>
        <p:nvSpPr>
          <p:cNvPr id="12" name="Bar Label"/>
          <p:cNvSpPr txBox="1"/>
          <p:nvPr/>
        </p:nvSpPr>
        <p:spPr>
          <a:xfrm>
            <a:off x="822960" y="2907792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250" b="1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정규직</a:t>
            </a:r>
            <a:endParaRPr lang="ko-KR" sz="1250"/>
          </a:p>
        </p:txBody>
      </p:sp>
      <p:sp>
        <p:nvSpPr>
          <p:cNvPr id="13" name="Bar Track"/>
          <p:cNvSpPr/>
          <p:nvPr/>
        </p:nvSpPr>
        <p:spPr>
          <a:xfrm>
            <a:off x="2423160" y="2944368"/>
            <a:ext cx="6035040" cy="25603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4" name="Bar Value"/>
          <p:cNvSpPr/>
          <p:nvPr/>
        </p:nvSpPr>
        <p:spPr>
          <a:xfrm>
            <a:off x="2423160" y="2944368"/>
            <a:ext cx="6035039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</p:sp>
      <p:sp>
        <p:nvSpPr>
          <p:cNvPr id="15" name="Bar Number"/>
          <p:cNvSpPr txBox="1"/>
          <p:nvPr/>
        </p:nvSpPr>
        <p:spPr>
          <a:xfrm>
            <a:off x="8686800" y="2880360"/>
            <a:ext cx="91440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250" b="1">
                <a:solidFill>
                  <a:srgbClr val="F59E0B"/>
                </a:solidFill>
                <a:latin typeface="Aptos"/>
                <a:ea typeface="Malgun Gothic"/>
                <a:cs typeface="Aptos"/>
              </a:rPr>
              <a:t>3명</a:t>
            </a:r>
            <a:endParaRPr lang="ko-KR" sz="1250"/>
          </a:p>
        </p:txBody>
      </p:sp>
      <p:sp>
        <p:nvSpPr>
          <p:cNvPr id="16" name="Bullet Background"/>
          <p:cNvSpPr/>
          <p:nvPr/>
        </p:nvSpPr>
        <p:spPr>
          <a:xfrm>
            <a:off x="731520" y="4572000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7" name="Bullet"/>
          <p:cNvSpPr txBox="1"/>
          <p:nvPr/>
        </p:nvSpPr>
        <p:spPr>
          <a:xfrm>
            <a:off x="960120" y="4645152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계약직 2명은 20대 근로자</a:t>
            </a:r>
            <a:endParaRPr lang="ko-KR" sz="1800"/>
          </a:p>
        </p:txBody>
      </p:sp>
      <p:sp>
        <p:nvSpPr>
          <p:cNvPr id="18" name="Bullet Background"/>
          <p:cNvSpPr/>
          <p:nvPr/>
        </p:nvSpPr>
        <p:spPr>
          <a:xfrm>
            <a:off x="731520" y="5285232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9" name="Bullet"/>
          <p:cNvSpPr txBox="1"/>
          <p:nvPr/>
        </p:nvSpPr>
        <p:spPr>
          <a:xfrm>
            <a:off x="960120" y="5358384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정규직은 50대 2명·30대 1명</a:t>
            </a:r>
            <a:endParaRPr lang="ko-KR" sz="1800"/>
          </a:p>
        </p:txBody>
      </p:sp>
      <p:sp>
        <p:nvSpPr>
          <p:cNvPr id="20" name="Bullet Background"/>
          <p:cNvSpPr/>
          <p:nvPr/>
        </p:nvSpPr>
        <p:spPr>
          <a:xfrm>
            <a:off x="731520" y="5998464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21" name="Bullet"/>
          <p:cNvSpPr txBox="1"/>
          <p:nvPr/>
        </p:nvSpPr>
        <p:spPr>
          <a:xfrm>
            <a:off x="960120" y="6071616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모두 오전 8시부터 근무 시작</a:t>
            </a:r>
            <a:endParaRPr lang="ko-KR" sz="1800"/>
          </a:p>
        </p:txBody>
      </p:sp>
      <p:sp>
        <p:nvSpPr>
          <p:cNvPr id="22" name="Bullet Background"/>
          <p:cNvSpPr/>
          <p:nvPr/>
        </p:nvSpPr>
        <p:spPr>
          <a:xfrm>
            <a:off x="731520" y="6711696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23" name="Bullet"/>
          <p:cNvSpPr txBox="1"/>
          <p:nvPr/>
        </p:nvSpPr>
        <p:spPr>
          <a:xfrm>
            <a:off x="960120" y="6784848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규정에 따른 방염복 착용</a:t>
            </a:r>
            <a:endParaRPr lang="ko-KR" sz="1800"/>
          </a:p>
        </p:txBody>
      </p:sp>
      <p:sp>
        <p:nvSpPr>
          <p:cNvPr id="24" name="Speaker Note"/>
          <p:cNvSpPr txBox="1"/>
          <p:nvPr/>
        </p:nvSpPr>
        <p:spPr>
          <a:xfrm>
            <a:off x="731520" y="589788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00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사망자 고용 형태와 연령대, 근무 및 보호장비 착용 사실을 있는 그대로 제시한다.</a:t>
            </a:r>
            <a:endParaRPr lang="ko-KR" sz="1000"/>
          </a:p>
        </p:txBody>
      </p:sp>
      <p:sp>
        <p:nvSpPr>
          <p:cNvPr id="25" name="Page Number"/>
          <p:cNvSpPr txBox="1"/>
          <p:nvPr/>
        </p:nvSpPr>
        <p:spPr>
          <a:xfrm>
            <a:off x="10972800" y="58978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00" b="1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3</a:t>
            </a:r>
            <a:endParaRPr lang="ko-KR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>
              <a:alpha val="17000"/>
            </a:srgbClr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8046720" y="0"/>
            <a:ext cx="4160520" cy="566928"/>
          </a:xfrm>
          <a:prstGeom prst="rect">
            <a:avLst/>
          </a:prstGeom>
          <a:solidFill>
            <a:srgbClr val="0F766E">
              <a:alpha val="12000"/>
            </a:srgbClr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594360" y="31089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2563EB"/>
                </a:solidFill>
                <a:latin typeface="Aptos"/>
                <a:ea typeface="Malgun Gothic"/>
                <a:cs typeface="Aptos"/>
              </a:rPr>
              <a:t>수습 및 조사</a:t>
            </a:r>
            <a:endParaRPr lang="ko-KR" sz="1100"/>
          </a:p>
        </p:txBody>
      </p:sp>
      <p:sp>
        <p:nvSpPr>
          <p:cNvPr id="5" name="Title"/>
          <p:cNvSpPr txBox="1"/>
          <p:nvPr/>
        </p:nvSpPr>
        <p:spPr>
          <a:xfrm>
            <a:off x="594360" y="658368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3000" b="1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화재 진압 후 원인 조사 착수</a:t>
            </a:r>
            <a:endParaRPr lang="ko-KR" sz="3000"/>
          </a:p>
        </p:txBody>
      </p:sp>
      <p:sp>
        <p:nvSpPr>
          <p:cNvPr id="6" name="Divider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7" name="Bullet Background"/>
          <p:cNvSpPr/>
          <p:nvPr/>
        </p:nvSpPr>
        <p:spPr>
          <a:xfrm>
            <a:off x="731520" y="1783080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8" name="Bullet"/>
          <p:cNvSpPr txBox="1"/>
          <p:nvPr/>
        </p:nvSpPr>
        <p:spPr>
          <a:xfrm>
            <a:off x="960120" y="1856231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오전 11시 17분 소방 대응 1단계 발령</a:t>
            </a:r>
            <a:endParaRPr lang="ko-KR" sz="1800"/>
          </a:p>
        </p:txBody>
      </p:sp>
      <p:sp>
        <p:nvSpPr>
          <p:cNvPr id="9" name="Bullet Background"/>
          <p:cNvSpPr/>
          <p:nvPr/>
        </p:nvSpPr>
        <p:spPr>
          <a:xfrm>
            <a:off x="731520" y="2496312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0" name="Bullet"/>
          <p:cNvSpPr txBox="1"/>
          <p:nvPr/>
        </p:nvSpPr>
        <p:spPr>
          <a:xfrm>
            <a:off x="960120" y="2569464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인력 100여명·장비 30여대 투입</a:t>
            </a:r>
            <a:endParaRPr lang="ko-KR" sz="1800"/>
          </a:p>
        </p:txBody>
      </p:sp>
      <p:sp>
        <p:nvSpPr>
          <p:cNvPr id="11" name="Bullet Background"/>
          <p:cNvSpPr/>
          <p:nvPr/>
        </p:nvSpPr>
        <p:spPr>
          <a:xfrm>
            <a:off x="731520" y="3209544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2" name="Bullet"/>
          <p:cNvSpPr txBox="1"/>
          <p:nvPr/>
        </p:nvSpPr>
        <p:spPr>
          <a:xfrm>
            <a:off x="960120" y="3282696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화재 발생 50분 만에 초진</a:t>
            </a:r>
            <a:endParaRPr lang="ko-KR" sz="1800"/>
          </a:p>
        </p:txBody>
      </p:sp>
      <p:sp>
        <p:nvSpPr>
          <p:cNvPr id="13" name="Bullet Background"/>
          <p:cNvSpPr/>
          <p:nvPr/>
        </p:nvSpPr>
        <p:spPr>
          <a:xfrm>
            <a:off x="731520" y="3922776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4" name="Bullet"/>
          <p:cNvSpPr txBox="1"/>
          <p:nvPr/>
        </p:nvSpPr>
        <p:spPr>
          <a:xfrm>
            <a:off x="960120" y="3995928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오후 1시 7분 완진</a:t>
            </a:r>
            <a:endParaRPr lang="ko-KR" sz="1800"/>
          </a:p>
        </p:txBody>
      </p:sp>
      <p:sp>
        <p:nvSpPr>
          <p:cNvPr id="15" name="Bullet Background"/>
          <p:cNvSpPr/>
          <p:nvPr/>
        </p:nvSpPr>
        <p:spPr>
          <a:xfrm>
            <a:off x="731520" y="4636008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6" name="Bullet"/>
          <p:cNvSpPr txBox="1"/>
          <p:nvPr/>
        </p:nvSpPr>
        <p:spPr>
          <a:xfrm>
            <a:off x="960120" y="4709160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오후 1시 8분 대응 1단계 해제</a:t>
            </a:r>
            <a:endParaRPr lang="ko-KR" sz="1800"/>
          </a:p>
        </p:txBody>
      </p:sp>
      <p:sp>
        <p:nvSpPr>
          <p:cNvPr id="17" name="Speaker Note"/>
          <p:cNvSpPr txBox="1"/>
          <p:nvPr/>
        </p:nvSpPr>
        <p:spPr>
          <a:xfrm>
            <a:off x="731520" y="589788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00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소방 대응의 주요 시간표와 투입 자원을 중심으로 사고 수습 흐름을 설명한다.</a:t>
            </a:r>
            <a:endParaRPr lang="ko-KR" sz="1000"/>
          </a:p>
        </p:txBody>
      </p:sp>
      <p:sp>
        <p:nvSpPr>
          <p:cNvPr id="18" name="Page Number"/>
          <p:cNvSpPr txBox="1"/>
          <p:nvPr/>
        </p:nvSpPr>
        <p:spPr>
          <a:xfrm>
            <a:off x="10972800" y="58978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00" b="1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4</a:t>
            </a:r>
            <a:endParaRPr lang="ko-KR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>
              <a:alpha val="17000"/>
            </a:srgbClr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8046720" y="0"/>
            <a:ext cx="4160520" cy="566928"/>
          </a:xfrm>
          <a:prstGeom prst="rect">
            <a:avLst/>
          </a:prstGeom>
          <a:solidFill>
            <a:srgbClr val="0F766E">
              <a:alpha val="12000"/>
            </a:srgbClr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594360" y="31089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2563EB"/>
                </a:solidFill>
                <a:latin typeface="Aptos"/>
                <a:ea typeface="Malgun Gothic"/>
                <a:cs typeface="Aptos"/>
              </a:rPr>
              <a:t>사고 원인 단서</a:t>
            </a:r>
            <a:endParaRPr lang="ko-KR" sz="1100"/>
          </a:p>
        </p:txBody>
      </p:sp>
      <p:sp>
        <p:nvSpPr>
          <p:cNvPr id="5" name="Title"/>
          <p:cNvSpPr txBox="1"/>
          <p:nvPr/>
        </p:nvSpPr>
        <p:spPr>
          <a:xfrm>
            <a:off x="594360" y="658368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3000" b="1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로켓 추진제 세척 공정 중 폭발 추정</a:t>
            </a:r>
            <a:endParaRPr lang="ko-KR" sz="3000"/>
          </a:p>
        </p:txBody>
      </p:sp>
      <p:sp>
        <p:nvSpPr>
          <p:cNvPr id="6" name="Divider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7" name="Bullet Background"/>
          <p:cNvSpPr/>
          <p:nvPr/>
        </p:nvSpPr>
        <p:spPr>
          <a:xfrm>
            <a:off x="731520" y="1783080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8" name="Bullet"/>
          <p:cNvSpPr txBox="1"/>
          <p:nvPr/>
        </p:nvSpPr>
        <p:spPr>
          <a:xfrm>
            <a:off x="960120" y="1856231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폭발 지점은 56동 세척 공실</a:t>
            </a:r>
            <a:endParaRPr lang="ko-KR" sz="1800"/>
          </a:p>
        </p:txBody>
      </p:sp>
      <p:sp>
        <p:nvSpPr>
          <p:cNvPr id="9" name="Bullet Background"/>
          <p:cNvSpPr/>
          <p:nvPr/>
        </p:nvSpPr>
        <p:spPr>
          <a:xfrm>
            <a:off x="731520" y="2496312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0" name="Bullet"/>
          <p:cNvSpPr txBox="1"/>
          <p:nvPr/>
        </p:nvSpPr>
        <p:spPr>
          <a:xfrm>
            <a:off x="960120" y="2569464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화약 묻은 공구 세척 중 발생 추정</a:t>
            </a:r>
            <a:endParaRPr lang="ko-KR" sz="1800"/>
          </a:p>
        </p:txBody>
      </p:sp>
      <p:sp>
        <p:nvSpPr>
          <p:cNvPr id="11" name="Bullet Background"/>
          <p:cNvSpPr/>
          <p:nvPr/>
        </p:nvSpPr>
        <p:spPr>
          <a:xfrm>
            <a:off x="731520" y="3209544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2" name="Bullet"/>
          <p:cNvSpPr txBox="1"/>
          <p:nvPr/>
        </p:nvSpPr>
        <p:spPr>
          <a:xfrm>
            <a:off x="960120" y="3282696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지상 1층 544㎡ 건물 1동 전소</a:t>
            </a:r>
            <a:endParaRPr lang="ko-KR" sz="1800"/>
          </a:p>
        </p:txBody>
      </p:sp>
      <p:sp>
        <p:nvSpPr>
          <p:cNvPr id="13" name="Bullet Background"/>
          <p:cNvSpPr/>
          <p:nvPr/>
        </p:nvSpPr>
        <p:spPr>
          <a:xfrm>
            <a:off x="731520" y="3922776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4" name="Bullet"/>
          <p:cNvSpPr txBox="1"/>
          <p:nvPr/>
        </p:nvSpPr>
        <p:spPr>
          <a:xfrm>
            <a:off x="960120" y="3995928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건물 구조물 붕괴로 즉시 출입 어려움</a:t>
            </a:r>
            <a:endParaRPr lang="ko-KR" sz="1800"/>
          </a:p>
        </p:txBody>
      </p:sp>
      <p:sp>
        <p:nvSpPr>
          <p:cNvPr id="15" name="Bullet Background"/>
          <p:cNvSpPr/>
          <p:nvPr/>
        </p:nvSpPr>
        <p:spPr>
          <a:xfrm>
            <a:off x="731520" y="4636008"/>
            <a:ext cx="10744200" cy="56692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5E7EB"/>
            </a:solidFill>
          </a:ln>
        </p:spPr>
      </p:sp>
      <p:sp>
        <p:nvSpPr>
          <p:cNvPr id="16" name="Bullet"/>
          <p:cNvSpPr txBox="1"/>
          <p:nvPr/>
        </p:nvSpPr>
        <p:spPr>
          <a:xfrm>
            <a:off x="960120" y="4709160"/>
            <a:ext cx="10287000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8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경찰은 수사전담팀을 구성</a:t>
            </a:r>
            <a:endParaRPr lang="ko-KR" sz="1800"/>
          </a:p>
        </p:txBody>
      </p:sp>
      <p:sp>
        <p:nvSpPr>
          <p:cNvPr id="17" name="Speaker Note"/>
          <p:cNvSpPr txBox="1"/>
          <p:nvPr/>
        </p:nvSpPr>
        <p:spPr>
          <a:xfrm>
            <a:off x="731520" y="589788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00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회사 브리핑과 당국 조사 착수 내용을 바탕으로 현재까지 파악된 원인 단서를 정리한다.</a:t>
            </a:r>
            <a:endParaRPr lang="ko-KR" sz="1000"/>
          </a:p>
        </p:txBody>
      </p:sp>
      <p:sp>
        <p:nvSpPr>
          <p:cNvPr id="18" name="Page Number"/>
          <p:cNvSpPr txBox="1"/>
          <p:nvPr/>
        </p:nvSpPr>
        <p:spPr>
          <a:xfrm>
            <a:off x="10972800" y="58978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00" b="1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5</a:t>
            </a:r>
            <a:endParaRPr lang="ko-KR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>
              <a:alpha val="17000"/>
            </a:srgbClr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8046720" y="0"/>
            <a:ext cx="4160520" cy="566928"/>
          </a:xfrm>
          <a:prstGeom prst="rect">
            <a:avLst/>
          </a:prstGeom>
          <a:solidFill>
            <a:srgbClr val="0F766E">
              <a:alpha val="12000"/>
            </a:srgbClr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594360" y="31089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100" b="1">
                <a:solidFill>
                  <a:srgbClr val="2563EB"/>
                </a:solidFill>
                <a:latin typeface="Aptos"/>
                <a:ea typeface="Malgun Gothic"/>
                <a:cs typeface="Aptos"/>
              </a:rPr>
              <a:t>Executive Takeaway</a:t>
            </a:r>
            <a:endParaRPr lang="ko-KR" sz="1100"/>
          </a:p>
        </p:txBody>
      </p:sp>
      <p:sp>
        <p:nvSpPr>
          <p:cNvPr id="5" name="Title"/>
          <p:cNvSpPr txBox="1"/>
          <p:nvPr/>
        </p:nvSpPr>
        <p:spPr>
          <a:xfrm>
            <a:off x="594360" y="658368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3000" b="1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반복 사고 이력까지 포함한 원인 규명이 핵심</a:t>
            </a:r>
            <a:endParaRPr lang="ko-KR" sz="3000"/>
          </a:p>
        </p:txBody>
      </p:sp>
      <p:sp>
        <p:nvSpPr>
          <p:cNvPr id="6" name="Divider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7" name="Takeaway Panel"/>
          <p:cNvSpPr txBox="1"/>
          <p:nvPr/>
        </p:nvSpPr>
        <p:spPr>
          <a:xfrm>
            <a:off x="777240" y="1783080"/>
            <a:ext cx="10652760" cy="2788920"/>
          </a:xfrm>
          <a:prstGeom prst="roundRect">
            <a:avLst>
              <a:gd name="adj" fmla="val 9000"/>
            </a:avLst>
          </a:prstGeom>
          <a:solidFill>
            <a:srgbClr val="EEF2FF"/>
          </a:solidFill>
          <a:ln w="12700">
            <a:solidFill>
              <a:srgbClr val="E5E7EB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300" b="1">
                <a:solidFill>
                  <a:srgbClr val="2563EB"/>
                </a:solidFill>
                <a:latin typeface="Aptos"/>
                <a:ea typeface="Malgun Gothic"/>
                <a:cs typeface="Aptos"/>
              </a:rPr>
              <a:t>핵심 메시지</a:t>
            </a:r>
            <a:endParaRPr lang="ko-KR" sz="1300"/>
          </a:p>
          <a:p>
            <a:pPr marL="0" indent="0">
              <a:buNone/>
            </a:pPr>
            <a:r>
              <a:rPr lang="ko-KR" sz="19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2018년 폭발 사고로 현장 2명 사망</a:t>
            </a:r>
            <a:endParaRPr lang="ko-KR" sz="1900"/>
          </a:p>
          <a:p>
            <a:pPr marL="0" indent="0">
              <a:buNone/>
            </a:pPr>
            <a:r>
              <a:rPr lang="ko-KR" sz="19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당시 3명은 치료 중 사망</a:t>
            </a:r>
            <a:endParaRPr lang="ko-KR" sz="1900"/>
          </a:p>
          <a:p>
            <a:pPr marL="0" indent="0">
              <a:buNone/>
            </a:pPr>
            <a:r>
              <a:rPr lang="ko-KR" sz="19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2019년 2월에도 근로자 3명 사망</a:t>
            </a:r>
            <a:endParaRPr lang="ko-KR" sz="1900"/>
          </a:p>
          <a:p>
            <a:pPr marL="0" indent="0">
              <a:buNone/>
            </a:pPr>
            <a:r>
              <a:rPr lang="ko-KR" sz="1900">
                <a:solidFill>
                  <a:srgbClr val="111827"/>
                </a:solidFill>
                <a:latin typeface="Aptos"/>
                <a:ea typeface="Malgun Gothic"/>
                <a:cs typeface="Aptos"/>
              </a:rPr>
              <a:t>• 작은 건물은 소방서 보고 의무 없음</a:t>
            </a:r>
            <a:endParaRPr lang="ko-KR" sz="1900"/>
          </a:p>
        </p:txBody>
      </p:sp>
      <p:sp>
        <p:nvSpPr>
          <p:cNvPr id="8" name="Speaker Note"/>
          <p:cNvSpPr txBox="1"/>
          <p:nvPr/>
        </p:nvSpPr>
        <p:spPr>
          <a:xfrm>
            <a:off x="731520" y="589788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00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과거 두 차례 폭발 사고와 점검 사각지대 이슈를 함께 보며 재발 방지 관점의 결론을 제시한다.</a:t>
            </a:r>
            <a:endParaRPr lang="ko-KR" sz="1000"/>
          </a:p>
        </p:txBody>
      </p:sp>
      <p:sp>
        <p:nvSpPr>
          <p:cNvPr id="9" name="Page Number"/>
          <p:cNvSpPr txBox="1"/>
          <p:nvPr/>
        </p:nvSpPr>
        <p:spPr>
          <a:xfrm>
            <a:off x="10972800" y="589788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ko-KR" sz="1000" b="1">
                <a:solidFill>
                  <a:srgbClr val="6B7280"/>
                </a:solidFill>
                <a:latin typeface="Aptos"/>
                <a:ea typeface="Malgun Gothic"/>
                <a:cs typeface="Aptos"/>
              </a:rPr>
              <a:t>6</a:t>
            </a:r>
            <a:endParaRPr lang="ko-KR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DeckSpec OOXML renderer</Application>
  <PresentationFormat>On-screen Show (16:9)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한화에어로스페이스 대전공장 폭발 사고</dc:title>
  <dc:creator>make_ppt.py</dc:creator>
</cp:coreProperties>
</file>